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2712ad0fa647a7" /><Relationship Type="http://schemas.openxmlformats.org/officeDocument/2006/relationships/extended-properties" Target="/docProps/app.xml" Id="R9269184d818d4ae3" /><Relationship Type="http://schemas.openxmlformats.org/officeDocument/2006/relationships/officeDocument" Target="/ppt/presentation.xml" Id="R44206885561640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17467149274de1"/>
  </p:sldMasterIdLst>
  <p:notesMasterIdLst>
    <p:notesMasterId xmlns:r="http://schemas.openxmlformats.org/officeDocument/2006/relationships" r:id="Rf89ed2e8d8b147b8"/>
  </p:notesMasterIdLst>
  <p:sldIdLst>
    <p:sldId xmlns:r="http://schemas.openxmlformats.org/officeDocument/2006/relationships" id="256" r:id="Rad3db3a87366486d"/>
    <p:sldId xmlns:r="http://schemas.openxmlformats.org/officeDocument/2006/relationships" id="257" r:id="R319a6a8bc05d448f"/>
    <p:sldId xmlns:r="http://schemas.openxmlformats.org/officeDocument/2006/relationships" id="258" r:id="R1576f38d566f4162"/>
    <p:sldId xmlns:r="http://schemas.openxmlformats.org/officeDocument/2006/relationships" id="259" r:id="R6510dcf5d3604c70"/>
    <p:sldId xmlns:r="http://schemas.openxmlformats.org/officeDocument/2006/relationships" id="260" r:id="R4b1e4da000a5496f"/>
    <p:sldId xmlns:r="http://schemas.openxmlformats.org/officeDocument/2006/relationships" id="261" r:id="R3b41dff680db420d"/>
    <p:sldId xmlns:r="http://schemas.openxmlformats.org/officeDocument/2006/relationships" id="262" r:id="Reb315c20576442e3"/>
    <p:sldId xmlns:r="http://schemas.openxmlformats.org/officeDocument/2006/relationships" id="263" r:id="R2ddd90f6d1344f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3557108c894b96" /><Relationship Type="http://schemas.openxmlformats.org/officeDocument/2006/relationships/slideMaster" Target="/ppt/slideMasters/slideMaster1.xml" Id="R6e17467149274de1" /><Relationship Type="http://schemas.openxmlformats.org/officeDocument/2006/relationships/notesMaster" Target="/ppt/notesMasters/notesMaster1.xml" Id="Rf89ed2e8d8b147b8" /><Relationship Type="http://schemas.openxmlformats.org/officeDocument/2006/relationships/presProps" Target="/ppt/presProps.xml" Id="R1dbfd943e9794131" /><Relationship Type="http://schemas.openxmlformats.org/officeDocument/2006/relationships/tableStyles" Target="/ppt/tableStyles.xml" Id="Rd6674d5d5ba24ea6" /><Relationship Type="http://schemas.openxmlformats.org/officeDocument/2006/relationships/slide" Target="/ppt/slides/slide1.xml" Id="Rad3db3a87366486d" /><Relationship Type="http://schemas.openxmlformats.org/officeDocument/2006/relationships/slide" Target="/ppt/slides/slide2.xml" Id="R319a6a8bc05d448f" /><Relationship Type="http://schemas.openxmlformats.org/officeDocument/2006/relationships/slide" Target="/ppt/slides/slide3.xml" Id="R1576f38d566f4162" /><Relationship Type="http://schemas.openxmlformats.org/officeDocument/2006/relationships/slide" Target="/ppt/slides/slide4.xml" Id="R6510dcf5d3604c70" /><Relationship Type="http://schemas.openxmlformats.org/officeDocument/2006/relationships/slide" Target="/ppt/slides/slide5.xml" Id="R4b1e4da000a5496f" /><Relationship Type="http://schemas.openxmlformats.org/officeDocument/2006/relationships/slide" Target="/ppt/slides/slide6.xml" Id="R3b41dff680db420d" /><Relationship Type="http://schemas.openxmlformats.org/officeDocument/2006/relationships/slide" Target="/ppt/slides/slide7.xml" Id="Reb315c20576442e3" /><Relationship Type="http://schemas.openxmlformats.org/officeDocument/2006/relationships/slide" Target="/ppt/slides/slide8.xml" Id="R2ddd90f6d1344f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a8e69560a846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5bff07eab94e63" /><Relationship Type="http://schemas.openxmlformats.org/officeDocument/2006/relationships/notesMaster" Target="/ppt/notesMasters/notesMaster1.xml" Id="Ra6aa3d73423149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910226c75d488b" /><Relationship Type="http://schemas.openxmlformats.org/officeDocument/2006/relationships/notesMaster" Target="/ppt/notesMasters/notesMaster1.xml" Id="Rc4701a4129234d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c9dccfb09943ab" /><Relationship Type="http://schemas.openxmlformats.org/officeDocument/2006/relationships/notesMaster" Target="/ppt/notesMasters/notesMaster1.xml" Id="R78995f97a8c74c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f00b2910c14aa7" /><Relationship Type="http://schemas.openxmlformats.org/officeDocument/2006/relationships/notesMaster" Target="/ppt/notesMasters/notesMaster1.xml" Id="R52618500611349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08fc535b0a49d8" /><Relationship Type="http://schemas.openxmlformats.org/officeDocument/2006/relationships/notesMaster" Target="/ppt/notesMasters/notesMaster1.xml" Id="R513cc89ec9684a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33f73ce6774055" /><Relationship Type="http://schemas.openxmlformats.org/officeDocument/2006/relationships/notesMaster" Target="/ppt/notesMasters/notesMaster1.xml" Id="R83b7a7bd542d41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a09b14734d469b" /><Relationship Type="http://schemas.openxmlformats.org/officeDocument/2006/relationships/notesMaster" Target="/ppt/notesMasters/notesMaster1.xml" Id="Red150e58bdfa45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c67e653aae473b" /><Relationship Type="http://schemas.openxmlformats.org/officeDocument/2006/relationships/notesMaster" Target="/ppt/notesMasters/notesMaster1.xml" Id="Rc6056c213f0e4d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données et consignes de la compétition https://www.kaggle.com/competitions/cy-tech-2027-calcul-de-la-prime-dassurance/overview. Travail commun, détail des deux composantes dans les notebooks.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: Data/train.csv et Data/test.csv. 2 917 / 50 000 = 5,834 %. Les coûts sont ceux de la période observée.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: src/pricing/experiment.py, reports/selection.json et reports/nested_validation.json. Le diagnostic historique a déjà été examiné avant cette étude.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: reports/selection.json, reports/frequency_cv.csv et reports/historical_diagnostic.json. Le poids est choisi sur MSE de prime hors pli. Pas de pondération artificielle des classes.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: reports/selection.json et src/pricing/reference.py, classe GammaMetier. Alpha = 0,01. Les coûts extrêmes sont conservés.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reports/nested_validation.json. Les procédures sont évaluées sur les mêmes contrats externes. Le bootstrap est conditionnel aux prédictions ajustées.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: compte Kaggle connecté, onglets Submissions et Leaderboard, https://www.kaggle.com/competitions/cy-tech-2027-calcul-de-la-prime-dassurance/leaderboard ; reports/kaggle_submissions.json. Score public sur environ 33 % du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: README.md, tests/test_contracts.py, docs/results.md. La période exacte d’exposition et la date des variables nécessitent une documentation métier.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86b0be5e9f47a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42226b9f3a426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21a7e23b8049a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2fc36ea8164ab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c82e0a250e465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2aed865b734c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A0BE8E-8CF9-4AAD-96F3-77652FD812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17250E1-FFF1-4183-8DD6-F4E3D5A36A5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1D2F85E-C3F9-401F-AEFC-430FD7473F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0E76EC-C3CC-47EF-BE9B-5510DAB6B2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65A0B88-FB3F-46BD-BCAF-098277680F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C829627-94FA-474D-8B84-A60CC4EED0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FA963A-944B-4CB0-9878-2135840CF2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0538B70-CA40-44D4-AEEA-DFD800D9796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DB159F-8927-4884-829E-4C9F1D6E62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0278DF4-69A9-4294-AC93-96CA70CF4C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46b1d6fd784704" /><Relationship Type="http://schemas.openxmlformats.org/officeDocument/2006/relationships/slideLayout" Target="/ppt/slideLayouts/slideLayout1.xml" Id="R823bb17adee34014" /><Relationship Type="http://schemas.openxmlformats.org/officeDocument/2006/relationships/slideLayout" Target="/ppt/slideLayouts/slideLayout2.xml" Id="R1307b2a3ecad41b8" /><Relationship Type="http://schemas.openxmlformats.org/officeDocument/2006/relationships/slideLayout" Target="/ppt/slideLayouts/slideLayout3.xml" Id="Re787daf1f69f4cf1" /><Relationship Type="http://schemas.openxmlformats.org/officeDocument/2006/relationships/slideLayout" Target="/ppt/slideLayouts/slideLayout4.xml" Id="R9beb3d467a174bc6" /><Relationship Type="http://schemas.openxmlformats.org/officeDocument/2006/relationships/slideLayout" Target="/ppt/slideLayouts/slideLayout5.xml" Id="R1828488f14f44fae" /><Relationship Type="http://schemas.openxmlformats.org/officeDocument/2006/relationships/slideLayout" Target="/ppt/slideLayouts/slideLayout6.xml" Id="Rb39748c04b4744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3bb17adee34014"/>
    <p:sldLayoutId xmlns:r="http://schemas.openxmlformats.org/officeDocument/2006/relationships" id="2147483650" r:id="R1307b2a3ecad41b8"/>
    <p:sldLayoutId xmlns:r="http://schemas.openxmlformats.org/officeDocument/2006/relationships" id="2147483651" r:id="Re787daf1f69f4cf1"/>
    <p:sldLayoutId xmlns:r="http://schemas.openxmlformats.org/officeDocument/2006/relationships" id="2147483652" r:id="R9beb3d467a174bc6"/>
    <p:sldLayoutId xmlns:r="http://schemas.openxmlformats.org/officeDocument/2006/relationships" id="2147483653" r:id="R1828488f14f44fae"/>
    <p:sldLayoutId xmlns:r="http://schemas.openxmlformats.org/officeDocument/2006/relationships" id="2147483654" r:id="Rb39748c04b4744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ec641518ec4d9d" /><Relationship Type="http://schemas.openxmlformats.org/officeDocument/2006/relationships/notesSlide" Target="/ppt/notesSlides/notesSlide1.xml" Id="R1cfd50ac4ffe4b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203cb02e4c4acb" /><Relationship Type="http://schemas.openxmlformats.org/officeDocument/2006/relationships/notesSlide" Target="/ppt/notesSlides/notesSlide2.xml" Id="R1575395fa6684e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ebda24a2e541cd" /><Relationship Type="http://schemas.openxmlformats.org/officeDocument/2006/relationships/notesSlide" Target="/ppt/notesSlides/notesSlide3.xml" Id="R595e5729b82d48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11d3ca59f04517" /><Relationship Type="http://schemas.openxmlformats.org/officeDocument/2006/relationships/notesSlide" Target="/ppt/notesSlides/notesSlide4.xml" Id="R4af1dfffea2c41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46e3a71b2a405e" /><Relationship Type="http://schemas.openxmlformats.org/officeDocument/2006/relationships/notesSlide" Target="/ppt/notesSlides/notesSlide5.xml" Id="R8cf3fcc53fe84c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08ffd321974a0e" /><Relationship Type="http://schemas.openxmlformats.org/officeDocument/2006/relationships/notesSlide" Target="/ppt/notesSlides/notesSlide6.xml" Id="R2f1b59d965584a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64f46f0d9744f5" /><Relationship Type="http://schemas.openxmlformats.org/officeDocument/2006/relationships/notesSlide" Target="/ppt/notesSlides/notesSlide7.xml" Id="R7fec9069bb2b49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fdd5e464e94f01" /><Relationship Type="http://schemas.openxmlformats.org/officeDocument/2006/relationships/notesSlide" Target="/ppt/notesSlides/notesSlide8.xml" Id="R4f917071545748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8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5F57B-C6B5-4BF0-AFAB-A6E038C7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Tarification automobile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64E0F-AA62-4F9C-9A6C-EE4F9180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BDE4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BDE4E7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DE4E7"/>
                </a:solidFill>
                <a:latin typeface="Arial"/>
                <a:ea typeface="Arial"/>
                <a:cs typeface="Arial"/>
              </a:rPr>
              <a:t>Fréquence, gravité et prime pure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7A367-2458-4425-9AF8-DD81A3F4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CY Tech 2027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Entraînement du 10 octobre 2026</a:t>
            </a:r>
          </a:p>
        </p:txBody>
      </p:sp>
    </p:spTree>
    <p:extLst>
      <p:ext uri="{BB962C8B-B14F-4D97-AF65-F5344CB8AC3E}">
        <p14:creationId xmlns:p14="http://schemas.microsoft.com/office/powerpoint/2010/main" val="5394882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8054D-F01F-493C-AB7C-EA823ADF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8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8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83C"/>
                </a:solidFill>
                <a:latin typeface="Arial"/>
                <a:ea typeface="Arial"/>
                <a:cs typeface="Arial"/>
              </a:rPr>
              <a:t>Le coût attendu d’un contrat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25D69-23EE-4FD9-877D-B064514B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D0F12-58C9-455D-A97C-C5CFEAAA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17C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17C83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17C83"/>
                </a:solidFill>
                <a:latin typeface="Arial"/>
                <a:ea typeface="Arial"/>
                <a:cs typeface="Arial"/>
              </a:rPr>
              <a:t>50 000 contrats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9F4BD-8554-4879-9490-D3984C69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8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83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83C"/>
                </a:solidFill>
                <a:latin typeface="Arial"/>
                <a:ea typeface="Arial"/>
                <a:cs typeface="Arial"/>
              </a:rPr>
              <a:t>2 917 sinistres, soit 5,834 %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76103-CF87-4C0D-9B5A-B70B3140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28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4283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83C"/>
                </a:solidFill>
                <a:latin typeface="Arial"/>
                <a:ea typeface="Arial"/>
                <a:cs typeface="Arial"/>
              </a:rPr>
              <a:t>La plupart des contrats coûtent zéro. Quelques sinistres élevés dominent l’erreur quadratique.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6B27A-B219-4385-B40C-1BFD745C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17C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17C8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7C83"/>
                </a:solidFill>
                <a:latin typeface="Arial"/>
                <a:ea typeface="Arial"/>
                <a:cs typeface="Arial"/>
              </a:rPr>
              <a:t>Prime = probabilité de sinistre × coût conditionnel</a:t>
            </a:r>
          </a:p>
        </p:txBody>
      </p:sp>
    </p:spTree>
    <p:extLst>
      <p:ext uri="{BB962C8B-B14F-4D97-AF65-F5344CB8AC3E}">
        <p14:creationId xmlns:p14="http://schemas.microsoft.com/office/powerpoint/2010/main" val="20755548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857DB1-EB32-43FF-9F32-9301CE5B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8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8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83C"/>
                </a:solidFill>
                <a:latin typeface="Arial"/>
                <a:ea typeface="Arial"/>
                <a:cs typeface="Arial"/>
              </a:rPr>
              <a:t>Validation par client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26D58-74A2-4FBD-80DA-C38795A6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2131C-3182-40E3-84D3-5AE8996F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428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428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83C"/>
                </a:solidFill>
                <a:latin typeface="Arial"/>
                <a:ea typeface="Arial"/>
                <a:cs typeface="Arial"/>
              </a:rPr>
              <a:t>01  Développement : 40 013 contrats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7A436-EF28-4BC9-9515-3B3BEDFF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76475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8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28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83C"/>
                </a:solidFill>
                <a:latin typeface="Arial"/>
                <a:ea typeface="Arial"/>
                <a:cs typeface="Arial"/>
              </a:rPr>
              <a:t>Recherche sur cinq plis. Chaque client reste dans une seule partition.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7EBF48-C9A1-4FD1-9970-C4736BEA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428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428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83C"/>
                </a:solidFill>
                <a:latin typeface="Arial"/>
                <a:ea typeface="Arial"/>
                <a:cs typeface="Arial"/>
              </a:rPr>
              <a:t>02  Validation imbriquée : trois plis externes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DF4A1-8857-4D4E-BBA4-19956C0C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8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28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83C"/>
                </a:solidFill>
                <a:latin typeface="Arial"/>
                <a:ea typeface="Arial"/>
                <a:cs typeface="Arial"/>
              </a:rPr>
              <a:t>Toute la sélection recommence sur trois plis internes.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12E43-CD44-4348-99AD-5D949783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428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428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83C"/>
                </a:solidFill>
                <a:latin typeface="Arial"/>
                <a:ea typeface="Arial"/>
                <a:cs typeface="Arial"/>
              </a:rPr>
              <a:t>03  Apprentissage final sur 50 000 contrats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079DAB-A587-433B-B588-40639928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91125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8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28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83C"/>
                </a:solidFill>
                <a:latin typeface="Arial"/>
                <a:ea typeface="Arial"/>
                <a:cs typeface="Arial"/>
              </a:rPr>
              <a:t>Le diagnostic historique de 9 987 contrats reste distinct.</a:t>
            </a:r>
          </a:p>
        </p:txBody>
      </p:sp>
    </p:spTree>
    <p:extLst>
      <p:ext uri="{BB962C8B-B14F-4D97-AF65-F5344CB8AC3E}">
        <p14:creationId xmlns:p14="http://schemas.microsoft.com/office/powerpoint/2010/main" val="14488627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B2718-FBF4-4C59-8438-CFBB16D2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8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8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83C"/>
                </a:solidFill>
                <a:latin typeface="Arial"/>
                <a:ea typeface="Arial"/>
                <a:cs typeface="Arial"/>
              </a:rPr>
              <a:t>Fréquence : logistique et CatBoost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68733-8DFA-42A7-89A0-1932F667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68FF9C-5ADC-4108-82A7-64BA4D88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7C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17C8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7C83"/>
                </a:solidFill>
                <a:latin typeface="Arial"/>
                <a:ea typeface="Arial"/>
                <a:cs typeface="Arial"/>
              </a:rPr>
              <a:t>75 % CatBoost + 25 % logistique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A257F-361C-4368-AE32-D91DB9F5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4775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8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8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83C"/>
                </a:solidFill>
                <a:latin typeface="Arial"/>
                <a:ea typeface="Arial"/>
                <a:cs typeface="Arial"/>
              </a:rPr>
              <a:t>CatBoost : profondeur 6, 700 arbres, régularisation L2 = 30.</a:t>
            </a:r>
          </a:p>
          <a:p xmlns:a="http://schemas.openxmlformats.org/drawingml/2006/main">
            <a:pPr>
              <a:defRPr sz="2175" b="0">
                <a:solidFill>
                  <a:srgbClr val="1428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83C"/>
                </a:solidFill>
                <a:latin typeface="Arial"/>
                <a:ea typeface="Arial"/>
                <a:cs typeface="Arial"/>
              </a:rPr>
              <a:t>La logistique apporte une estimation régularisée plus simple.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F763B-D3C9-4108-A1CD-2475E107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47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8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8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83C"/>
                </a:solidFill>
                <a:latin typeface="Arial"/>
                <a:ea typeface="Arial"/>
                <a:cs typeface="Arial"/>
              </a:rPr>
              <a:t>Variables de contrat, véhicule, conducteur et département.</a:t>
            </a:r>
          </a:p>
          <a:p xmlns:a="http://schemas.openxmlformats.org/drawingml/2006/main">
            <a:pPr>
              <a:defRPr sz="2175" b="0">
                <a:solidFill>
                  <a:srgbClr val="1428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83C"/>
                </a:solidFill>
                <a:latin typeface="Arial"/>
                <a:ea typeface="Arial"/>
                <a:cs typeface="Arial"/>
              </a:rPr>
              <a:t>Encodages et imputation appris dans chaque pli.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0EF4D-2509-4777-AB7E-172CA652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483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5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5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7"/>
                </a:solidFill>
                <a:latin typeface="Arial"/>
                <a:ea typeface="Arial"/>
                <a:cs typeface="Arial"/>
              </a:rPr>
              <a:t>Diagnostic historique : AUC 0.675 et Brier 0.0523</a:t>
            </a:r>
          </a:p>
        </p:txBody>
      </p:sp>
    </p:spTree>
    <p:extLst>
      <p:ext uri="{BB962C8B-B14F-4D97-AF65-F5344CB8AC3E}">
        <p14:creationId xmlns:p14="http://schemas.microsoft.com/office/powerpoint/2010/main" val="8066404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1C8B5-C902-42E3-BD0D-E7DFF80B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8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8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83C"/>
                </a:solidFill>
                <a:latin typeface="Arial"/>
                <a:ea typeface="Arial"/>
                <a:cs typeface="Arial"/>
              </a:rPr>
              <a:t>Gravité : une moyenne positive avec Gamma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D15DE2-8A0B-4C78-875E-B3C1A89F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1C42F-DD9E-4A17-B7AF-3EF7BF95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7C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17C8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7C83"/>
                </a:solidFill>
                <a:latin typeface="Arial"/>
                <a:ea typeface="Arial"/>
                <a:cs typeface="Arial"/>
              </a:rPr>
              <a:t>2 917 observations positives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96F92-7EDA-4923-88B6-0F90EA61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428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4283C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4283C"/>
                </a:solidFill>
                <a:latin typeface="Arial"/>
                <a:ea typeface="Arial"/>
                <a:cs typeface="Arial"/>
              </a:rPr>
              <a:t>Gamma avec lien logarithmique, alpha = 0,01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56749-4328-489D-AA8C-AFD0ABDE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28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4283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83C"/>
                </a:solidFill>
                <a:latin typeface="Arial"/>
                <a:ea typeface="Arial"/>
                <a:cs typeface="Arial"/>
              </a:rPr>
              <a:t>Ancienneté du véhicule, type de contrat et utilisation.</a:t>
            </a:r>
          </a:p>
          <a:p xmlns:a="http://schemas.openxmlformats.org/drawingml/2006/main">
            <a:pPr>
              <a:defRPr sz="2250" b="0">
                <a:solidFill>
                  <a:srgbClr val="14283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83C"/>
                </a:solidFill>
                <a:latin typeface="Arial"/>
                <a:ea typeface="Arial"/>
                <a:cs typeface="Arial"/>
              </a:rPr>
              <a:t>Le modèle prédit l’espérance du coût conditionnel.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D6D71-B997-4EB6-B474-73A59EAE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265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265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77"/>
                </a:solidFill>
                <a:latin typeface="Arial"/>
                <a:ea typeface="Arial"/>
                <a:cs typeface="Arial"/>
              </a:rPr>
              <a:t>Les alternatives plus complexes ne gagnent pas la sélection finale de prime.</a:t>
            </a:r>
          </a:p>
        </p:txBody>
      </p:sp>
    </p:spTree>
    <p:extLst>
      <p:ext uri="{BB962C8B-B14F-4D97-AF65-F5344CB8AC3E}">
        <p14:creationId xmlns:p14="http://schemas.microsoft.com/office/powerpoint/2010/main" val="11837056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43726-6736-467F-915A-1A795D71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8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8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83C"/>
                </a:solidFill>
                <a:latin typeface="Arial"/>
                <a:ea typeface="Arial"/>
                <a:cs typeface="Arial"/>
              </a:rPr>
              <a:t>Résultats de validation imbriquée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F2F37-B5A2-4242-9694-9E7730B2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990DE4-0999-439B-A391-C353835CEDCC}"/>
              </a:ext>
            </a:extLst>
          </p:cNvPr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190750"/>
                <a:gridCol w="2438400"/>
              </a:tblGrid>
              <a:tr h="6191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Procédure</a:t>
                      </a:r>
                    </a:p>
                  </a:txBody>
                  <a:tcPr marL="91440" marR="91440" marT="45720" marB="45720"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RMSE</a:t>
                      </a:r>
                    </a:p>
                  </a:txBody>
                  <a:tcPr marL="91440" marR="91440" marT="45720" marB="45720"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MSE</a:t>
                      </a:r>
                    </a:p>
                  </a:txBody>
                  <a:tcPr marL="91440" marR="91440" marT="45720" marB="45720">
                    <a:solidFill>
                      <a:srgbClr val="14283C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83C"/>
                          </a:solidFill>
                          <a:latin typeface="Arial"/>
                          <a:ea typeface="Arial"/>
                          <a:cs typeface="Arial"/>
                        </a:rPr>
                        <a:t>Nouvelle sélection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83C"/>
                          </a:solidFill>
                          <a:latin typeface="Arial"/>
                          <a:ea typeface="Arial"/>
                          <a:cs typeface="Arial"/>
                        </a:rPr>
                        <a:t>550.355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83C"/>
                          </a:solidFill>
                          <a:latin typeface="Arial"/>
                          <a:ea typeface="Arial"/>
                          <a:cs typeface="Arial"/>
                        </a:rPr>
                        <a:t>302890.8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83C"/>
                          </a:solidFill>
                          <a:latin typeface="Arial"/>
                          <a:ea typeface="Arial"/>
                          <a:cs typeface="Arial"/>
                        </a:rPr>
                        <a:t>Logistique × Gamma</a:t>
                      </a:r>
                    </a:p>
                  </a:txBody>
                  <a:tcPr marL="91440" marR="91440" marT="45720" marB="45720">
                    <a:solidFill>
                      <a:srgbClr val="EC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83C"/>
                          </a:solidFill>
                          <a:latin typeface="Arial"/>
                          <a:ea typeface="Arial"/>
                          <a:cs typeface="Arial"/>
                        </a:rPr>
                        <a:t>550.386</a:t>
                      </a:r>
                    </a:p>
                  </a:txBody>
                  <a:tcPr marL="91440" marR="91440" marT="45720" marB="45720">
                    <a:solidFill>
                      <a:srgbClr val="EC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83C"/>
                          </a:solidFill>
                          <a:latin typeface="Arial"/>
                          <a:ea typeface="Arial"/>
                          <a:cs typeface="Arial"/>
                        </a:rPr>
                        <a:t>302925.0</a:t>
                      </a:r>
                    </a:p>
                  </a:txBody>
                  <a:tcPr marL="91440" marR="91440" marT="45720" marB="45720">
                    <a:solidFill>
                      <a:srgbClr val="ECF3F5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83C"/>
                          </a:solidFill>
                          <a:latin typeface="Arial"/>
                          <a:ea typeface="Arial"/>
                          <a:cs typeface="Arial"/>
                        </a:rPr>
                        <a:t>Ancien couple fixe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83C"/>
                          </a:solidFill>
                          <a:latin typeface="Arial"/>
                          <a:ea typeface="Arial"/>
                          <a:cs typeface="Arial"/>
                        </a:rPr>
                        <a:t>550.416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83C"/>
                          </a:solidFill>
                          <a:latin typeface="Arial"/>
                          <a:ea typeface="Arial"/>
                          <a:cs typeface="Arial"/>
                        </a:rPr>
                        <a:t>302957.3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83C"/>
                          </a:solidFill>
                          <a:latin typeface="Arial"/>
                          <a:ea typeface="Arial"/>
                          <a:cs typeface="Arial"/>
                        </a:rPr>
                        <a:t>Prime constante</a:t>
                      </a:r>
                    </a:p>
                  </a:txBody>
                  <a:tcPr marL="91440" marR="91440" marT="45720" marB="45720">
                    <a:solidFill>
                      <a:srgbClr val="EC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83C"/>
                          </a:solidFill>
                          <a:latin typeface="Arial"/>
                          <a:ea typeface="Arial"/>
                          <a:cs typeface="Arial"/>
                        </a:rPr>
                        <a:t>553.545</a:t>
                      </a:r>
                    </a:p>
                  </a:txBody>
                  <a:tcPr marL="91440" marR="91440" marT="45720" marB="45720">
                    <a:solidFill>
                      <a:srgbClr val="EC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83C"/>
                          </a:solidFill>
                          <a:latin typeface="Arial"/>
                          <a:ea typeface="Arial"/>
                          <a:cs typeface="Arial"/>
                        </a:rPr>
                        <a:t>306412.0</a:t>
                      </a:r>
                    </a:p>
                  </a:txBody>
                  <a:tcPr marL="91440" marR="91440" marT="45720" marB="45720">
                    <a:solidFill>
                      <a:srgbClr val="ECF3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587CB-079F-4D05-B4ED-E556934D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47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8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428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83C"/>
                </a:solidFill>
                <a:latin typeface="Arial"/>
                <a:ea typeface="Arial"/>
                <a:cs typeface="Arial"/>
              </a:rPr>
              <a:t>Gain face à la référence : 0.031</a:t>
            </a:r>
          </a:p>
          <a:p xmlns:a="http://schemas.openxmlformats.org/drawingml/2006/main">
            <a:pPr>
              <a:defRPr sz="1950" b="0">
                <a:solidFill>
                  <a:srgbClr val="1428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83C"/>
                </a:solidFill>
                <a:latin typeface="Arial"/>
                <a:ea typeface="Arial"/>
                <a:cs typeface="Arial"/>
              </a:rPr>
              <a:t>Intervalle à 95 % : [-0.117 ; 0.191]. Il contient zéro.</a:t>
            </a:r>
          </a:p>
          <a:p xmlns:a="http://schemas.openxmlformats.org/drawingml/2006/main">
            <a:pPr>
              <a:defRPr sz="1950" b="0">
                <a:solidFill>
                  <a:srgbClr val="1428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83C"/>
                </a:solidFill>
                <a:latin typeface="Arial"/>
                <a:ea typeface="Arial"/>
                <a:cs typeface="Arial"/>
              </a:rPr>
              <a:t>La supériorité reste incertaine.</a:t>
            </a:r>
          </a:p>
        </p:txBody>
      </p:sp>
    </p:spTree>
    <p:extLst>
      <p:ext uri="{BB962C8B-B14F-4D97-AF65-F5344CB8AC3E}">
        <p14:creationId xmlns:p14="http://schemas.microsoft.com/office/powerpoint/2010/main" val="18833830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CF750-E895-4AF5-8496-CE6CC4EA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8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8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83C"/>
                </a:solidFill>
                <a:latin typeface="Arial"/>
                <a:ea typeface="Arial"/>
                <a:cs typeface="Arial"/>
              </a:rPr>
              <a:t>Score public Kaggle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33A6F-36A3-4859-BFB6-39E46E53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39EA7-BB78-4089-925A-D869EEB98D85}"/>
              </a:ext>
            </a:extLst>
          </p:cNvPr>
          <p:cNvGraphicFramePr/>
          <p:nvPr/>
        </p:nvGraphicFramePr>
        <p:xfrm>
          <a:off xmlns:a="http://schemas.openxmlformats.org/drawingml/2006/main" x="685800" y="1857375"/>
          <a:ext xmlns:a="http://schemas.openxmlformats.org/drawingml/2006/main" cx="108204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867650"/>
                <a:gridCol w="2952750"/>
              </a:tblGrid>
              <a:tr h="6191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Soumission</a:t>
                      </a:r>
                    </a:p>
                  </a:txBody>
                  <a:tcPr marL="91440" marR="91440" marT="45720" marB="45720">
                    <a:solidFill>
                      <a:srgbClr val="14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Score public</a:t>
                      </a:r>
                    </a:p>
                  </a:txBody>
                  <a:tcPr marL="91440" marR="91440" marT="45720" marB="45720">
                    <a:solidFill>
                      <a:srgbClr val="14283C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83C"/>
                          </a:solidFill>
                          <a:latin typeface="Arial"/>
                          <a:ea typeface="Arial"/>
                          <a:cs typeface="Arial"/>
                        </a:rPr>
                        <a:t>Reference logistique / Gamma (v3)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83C"/>
                          </a:solidFill>
                          <a:latin typeface="Arial"/>
                          <a:ea typeface="Arial"/>
                          <a:cs typeface="Arial"/>
                        </a:rPr>
                        <a:t>1365.943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83C"/>
                          </a:solidFill>
                          <a:latin typeface="Arial"/>
                          <a:ea typeface="Arial"/>
                          <a:cs typeface="Arial"/>
                        </a:rPr>
                        <a:t>Optimisation precedente (v4)</a:t>
                      </a:r>
                    </a:p>
                  </a:txBody>
                  <a:tcPr marL="91440" marR="91440" marT="45720" marB="45720">
                    <a:solidFill>
                      <a:srgbClr val="EC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83C"/>
                          </a:solidFill>
                          <a:latin typeface="Arial"/>
                          <a:ea typeface="Arial"/>
                          <a:cs typeface="Arial"/>
                        </a:rPr>
                        <a:t>1366.006</a:t>
                      </a:r>
                    </a:p>
                  </a:txBody>
                  <a:tcPr marL="91440" marR="91440" marT="45720" marB="45720">
                    <a:solidFill>
                      <a:srgbClr val="ECF3F5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83C"/>
                          </a:solidFill>
                          <a:latin typeface="Arial"/>
                          <a:ea typeface="Arial"/>
                          <a:cs typeface="Arial"/>
                        </a:rPr>
                        <a:t>Nouveau modele CatBoost / Gamma (v5)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83C"/>
                          </a:solidFill>
                          <a:latin typeface="Arial"/>
                          <a:ea typeface="Arial"/>
                          <a:cs typeface="Arial"/>
                        </a:rPr>
                        <a:t>Upload bloqué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AE64F-AB15-4AB9-A5C0-C2A62E4B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47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265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5265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577"/>
                </a:solidFill>
                <a:latin typeface="Arial"/>
                <a:ea typeface="Arial"/>
                <a:cs typeface="Arial"/>
              </a:rPr>
              <a:t>Le leaderboard privé utilise les 67 % restants du test.</a:t>
            </a:r>
          </a:p>
          <a:p xmlns:a="http://schemas.openxmlformats.org/drawingml/2006/main">
            <a:pPr>
              <a:defRPr sz="2250" b="0">
                <a:solidFill>
                  <a:srgbClr val="5265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577"/>
                </a:solidFill>
                <a:latin typeface="Arial"/>
                <a:ea typeface="Arial"/>
                <a:cs typeface="Arial"/>
              </a:rPr>
              <a:t>Le score public ne démontre pas le meilleur score final.</a:t>
            </a:r>
          </a:p>
        </p:txBody>
      </p:sp>
    </p:spTree>
    <p:extLst>
      <p:ext uri="{BB962C8B-B14F-4D97-AF65-F5344CB8AC3E}">
        <p14:creationId xmlns:p14="http://schemas.microsoft.com/office/powerpoint/2010/main" val="8820787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3D3CF-B63A-4607-A9FB-B920BEBF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8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8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83C"/>
                </a:solidFill>
                <a:latin typeface="Arial"/>
                <a:ea typeface="Arial"/>
                <a:cs typeface="Arial"/>
              </a:rPr>
              <a:t>Livrables et limites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BE6EE-0EE9-4FDF-8F05-EEEA4B5B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150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02533-0336-4719-9567-DA979189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17C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17C8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17C83"/>
                </a:solidFill>
                <a:latin typeface="Arial"/>
                <a:ea typeface="Arial"/>
                <a:cs typeface="Arial"/>
              </a:rPr>
              <a:t>Deux modèles distincts et une soumission vérifiée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646720-1194-4E3C-B056-E7842E82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8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8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83C"/>
                </a:solidFill>
                <a:latin typeface="Arial"/>
                <a:ea typeface="Arial"/>
                <a:cs typeface="Arial"/>
              </a:rPr>
              <a:t>Un point d’entrée pour reproduire la recherche et les prédictions.</a:t>
            </a:r>
          </a:p>
          <a:p xmlns:a="http://schemas.openxmlformats.org/drawingml/2006/main">
            <a:pPr>
              <a:defRPr sz="2175" b="0">
                <a:solidFill>
                  <a:srgbClr val="1428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83C"/>
                </a:solidFill>
                <a:latin typeface="Arial"/>
                <a:ea typeface="Arial"/>
                <a:cs typeface="Arial"/>
              </a:rPr>
              <a:t>Trois notebooks exécutés expliquent les choix et les résultats.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6A117-2287-463E-A657-BDAFE705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4775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8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8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83C"/>
                </a:solidFill>
                <a:latin typeface="Arial"/>
                <a:ea typeface="Arial"/>
                <a:cs typeface="Arial"/>
              </a:rPr>
              <a:t>Les grands sinistres rendent les petits écarts incertains.</a:t>
            </a:r>
          </a:p>
          <a:p xmlns:a="http://schemas.openxmlformats.org/drawingml/2006/main">
            <a:pPr>
              <a:defRPr sz="2175" b="0">
                <a:solidFill>
                  <a:srgbClr val="1428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83C"/>
                </a:solidFill>
                <a:latin typeface="Arial"/>
                <a:ea typeface="Arial"/>
                <a:cs typeface="Arial"/>
              </a:rPr>
              <a:t>Le développement a déjà fait l’objet d’explorations antérieures.</a:t>
            </a:r>
          </a:p>
          <a:p xmlns:a="http://schemas.openxmlformats.org/drawingml/2006/main">
            <a:pPr>
              <a:defRPr sz="2175" b="0">
                <a:solidFill>
                  <a:srgbClr val="1428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83C"/>
                </a:solidFill>
                <a:latin typeface="Arial"/>
                <a:ea typeface="Arial"/>
                <a:cs typeface="Arial"/>
              </a:rPr>
              <a:t>La prime pure exclut frais, marge et coût du capital.</a:t>
            </a:r>
          </a:p>
        </p:txBody>
      </p:sp>
    </p:spTree>
    <p:extLst>
      <p:ext uri="{BB962C8B-B14F-4D97-AF65-F5344CB8AC3E}">
        <p14:creationId xmlns:p14="http://schemas.microsoft.com/office/powerpoint/2010/main" val="7438934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2026-10-10T22:23:01.5100000Z</dcterms:created>
  <dcterms:modified xsi:type="dcterms:W3CDTF">2026-10-10T22:23:01.5100000Z</dcterms:modified>
</coreProperties>
</file>